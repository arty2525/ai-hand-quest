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to ESP32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หน่วยที่ 3 การพัฒนาโครงงาน • ว31101 • 5E + Collaborative Learning</a:t>
            </a:r>
            <a:br/>
            <a:br/>
            <a:r>
              <a:rPr/>
              <a:t>นายศิวัสว์ โตนอก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ภารกิจวันนี้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ทำให้ AI และ ESP32 ทำงานร่วมกันได้</a:t>
            </a:r>
            <a:br/>
            <a:r>
              <a:rPr/>
              <a:t>และเมื่อระบบผิดพลาด ต้องหาสาเหตุจาก </a:t>
            </a:r>
            <a:r>
              <a:rPr b="1"/>
              <a:t>หลักฐาน</a:t>
            </a:r>
            <a:r>
              <a:rPr/>
              <a:t> ไม่แก้แบบสุ่ม</a:t>
            </a:r>
          </a:p>
          <a:p>
            <a:pPr lvl="0" indent="0" marL="0">
              <a:buNone/>
            </a:pPr>
            <a:r>
              <a:rPr/>
              <a:t>Webcam → Browser/AI → HTTP → ESP32 → Output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เป้าหมายการเรียนรู้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อธิบาย Input–Process–Output และ Data Flow</a:t>
            </a:r>
          </a:p>
          <a:p>
            <a:pPr lvl="0"/>
            <a:r>
              <a:rPr/>
              <a:t>ระบุบทบาท Browser/AI และ ESP32</a:t>
            </a:r>
          </a:p>
          <a:p>
            <a:pPr lvl="0"/>
            <a:r>
              <a:rPr/>
              <a:t>Debug โดยใช้หลักฐานและลำดับการทดสอบ</a:t>
            </a:r>
          </a:p>
          <a:p>
            <a:pPr lvl="0"/>
            <a:r>
              <a:rPr/>
              <a:t>ปรับคำตอบหลัง Feedback</a:t>
            </a:r>
          </a:p>
          <a:p>
            <a:pPr lvl="0"/>
            <a:r>
              <a:rPr/>
              <a:t>ออกแบบการประยุกต์ต้นแบบกับชีวิตจริง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Engage • 5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Fault Demo</a:t>
            </a:r>
          </a:p>
          <a:p>
            <a:pPr lvl="0" indent="0" marL="0">
              <a:buNone/>
            </a:pPr>
            <a:r>
              <a:rPr b="1"/>
              <a:t>Hand → LED ON</a:t>
            </a:r>
            <a:br/>
            <a:r>
              <a:rPr b="1"/>
              <a:t>No Hand → LED OFF</a:t>
            </a:r>
          </a:p>
          <a:p>
            <a:pPr lvl="0" indent="0" marL="0">
              <a:buNone/>
            </a:pPr>
            <a:r>
              <a:rPr/>
              <a:t>จากนั้นครูสร้างสถานการณ์:</a:t>
            </a:r>
          </a:p>
          <a:p>
            <a:pPr lvl="0" indent="0" marL="1270000">
              <a:buNone/>
            </a:pPr>
            <a:r>
              <a:rPr sz="2000"/>
              <a:t>AI ตรวจพบ Hand แต่ LED ไม่ติด</a:t>
            </a:r>
          </a:p>
          <a:p>
            <a:pPr lvl="0" indent="0" marL="0">
              <a:buNone/>
            </a:pPr>
            <a:r>
              <a:rPr b="1"/>
              <a:t>อย่าเพิ่งแก้ — หลักฐานอะไรที่เราต้องตรวจ?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มองระบบเป็น Input–Process–Output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Input</a:t>
            </a:r>
            <a:br/>
            <a:r>
              <a:rPr/>
              <a:t>Webcam / ภาพมือ</a:t>
            </a:r>
          </a:p>
          <a:p>
            <a:pPr lvl="0" indent="0" marL="0">
              <a:buNone/>
            </a:pPr>
            <a:r>
              <a:rPr b="1"/>
              <a:t>Process</a:t>
            </a:r>
            <a:br/>
            <a:r>
              <a:rPr/>
              <a:t>Browser + AI Model + Prediction + Logic</a:t>
            </a:r>
          </a:p>
          <a:p>
            <a:pPr lvl="0" indent="0" marL="0">
              <a:buNone/>
            </a:pPr>
            <a:r>
              <a:rPr b="1"/>
              <a:t>Output</a:t>
            </a:r>
            <a:br/>
            <a:r>
              <a:rPr/>
              <a:t>HTTP → ESP32 → GPIO → LED/อุปกรณ์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Webcam</a:t>
            </a:r>
            <a:br/>
            <a:r>
              <a:rPr/>
              <a:t>↓</a:t>
            </a:r>
            <a:br/>
            <a:r>
              <a:rPr/>
              <a:t>Web Browser</a:t>
            </a:r>
            <a:br/>
            <a:r>
              <a:rPr/>
              <a:t>↓</a:t>
            </a:r>
            <a:br/>
            <a:r>
              <a:rPr/>
              <a:t>AI Model / Prediction</a:t>
            </a:r>
            <a:br/>
            <a:r>
              <a:rPr/>
              <a:t>↓</a:t>
            </a:r>
            <a:br/>
            <a:r>
              <a:rPr/>
              <a:t>JavaScript / HTTP Request</a:t>
            </a:r>
            <a:br/>
            <a:r>
              <a:rPr/>
              <a:t>↓</a:t>
            </a:r>
            <a:br/>
            <a:r>
              <a:rPr/>
              <a:t>ESP32 Web Server</a:t>
            </a:r>
            <a:br/>
            <a:r>
              <a:rPr/>
              <a:t>↓</a:t>
            </a:r>
            <a:br/>
            <a:r>
              <a:rPr/>
              <a:t>GPIO → Output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Explore • 11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 Stations</a:t>
            </a:r>
          </a:p>
          <a:p>
            <a:pPr lvl="0" indent="0" marL="0">
              <a:buNone/>
            </a:pPr>
            <a:r>
              <a:rPr b="1"/>
              <a:t>A — AI / Browser</a:t>
            </a:r>
            <a:br/>
            <a:r>
              <a:rPr/>
              <a:t>Webcam • Hand/No Hand • Prediction • Confidence</a:t>
            </a:r>
          </a:p>
          <a:p>
            <a:pPr lvl="0" indent="0" marL="0">
              <a:buNone/>
            </a:pPr>
            <a:r>
              <a:rPr b="1"/>
              <a:t>B — ESP32 / Output</a:t>
            </a:r>
            <a:br/>
            <a:r>
              <a:rPr/>
              <a:t>Web Server • </a:t>
            </a:r>
            <a:r>
              <a:rPr>
                <a:latin typeface="Courier"/>
              </a:rPr>
              <a:t>/on</a:t>
            </a:r>
            <a:r>
              <a:rPr/>
              <a:t> • </a:t>
            </a:r>
            <a:r>
              <a:rPr>
                <a:latin typeface="Courier"/>
              </a:rPr>
              <a:t>/off</a:t>
            </a:r>
            <a:r>
              <a:rPr/>
              <a:t> • GPIO</a:t>
            </a:r>
          </a:p>
          <a:p>
            <a:pPr lvl="0" indent="0" marL="0">
              <a:buNone/>
            </a:pPr>
            <a:r>
              <a:rPr b="1"/>
              <a:t>C — Integration</a:t>
            </a:r>
            <a:br/>
            <a:r>
              <a:rPr/>
              <a:t>Browser → HTTP → ESP32 → Output</a:t>
            </a:r>
          </a:p>
          <a:p>
            <a:pPr lvl="0" indent="0" marL="1270000">
              <a:buNone/>
            </a:pPr>
            <a:r>
              <a:rPr sz="2000"/>
              <a:t>ทดลอง • สังเกต • บันทึกหลักฐาน • Peer Teaching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Station A — AI /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ตรวจสอบ:</a:t>
            </a:r>
          </a:p>
          <a:p>
            <a:pPr lvl="0"/>
            <a:r>
              <a:rPr/>
              <a:t>Webcam เปิดหรือไม่</a:t>
            </a:r>
          </a:p>
          <a:p>
            <a:pPr lvl="0"/>
            <a:r>
              <a:rPr/>
              <a:t>AI จำแนก Hand / No Hand ได้หรือไม่</a:t>
            </a:r>
          </a:p>
          <a:p>
            <a:pPr lvl="0"/>
            <a:r>
              <a:rPr/>
              <a:t>Prediction เสถียรหรือไม่</a:t>
            </a:r>
          </a:p>
          <a:p>
            <a:pPr lvl="0"/>
            <a:r>
              <a:rPr/>
              <a:t>หลักฐานอะไรยืนยันว่า AI ทำงาน</a:t>
            </a:r>
          </a:p>
          <a:p>
            <a:pPr lvl="0" indent="0" marL="0">
              <a:buNone/>
            </a:pPr>
            <a:r>
              <a:rPr b="1"/>
              <a:t>AI ในต้นแบบนี้ทำงานที่ Browser หรือ ESP32?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Station B — ESP32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ทดลอง:</a:t>
            </a:r>
          </a:p>
          <a:p>
            <a:pPr lvl="0"/>
            <a:r>
              <a:rPr/>
              <a:t>เปิด </a:t>
            </a:r>
            <a:r>
              <a:rPr>
                <a:latin typeface="Courier"/>
              </a:rPr>
              <a:t>/on</a:t>
            </a:r>
            <a:r>
              <a:rPr/>
              <a:t> ด้วยตนเอง</a:t>
            </a:r>
          </a:p>
          <a:p>
            <a:pPr lvl="0"/>
            <a:r>
              <a:rPr/>
              <a:t>เปิด </a:t>
            </a:r>
            <a:r>
              <a:rPr>
                <a:latin typeface="Courier"/>
              </a:rPr>
              <a:t>/off</a:t>
            </a:r>
            <a:r>
              <a:rPr/>
              <a:t> ด้วยตนเอง</a:t>
            </a:r>
          </a:p>
          <a:p>
            <a:pPr lvl="0"/>
            <a:r>
              <a:rPr/>
              <a:t>สังเกต GPIO / LED</a:t>
            </a:r>
          </a:p>
          <a:p>
            <a:pPr lvl="0" indent="0" marL="0">
              <a:buNone/>
            </a:pPr>
            <a:r>
              <a:rPr b="1"/>
              <a:t>ถ้า </a:t>
            </a:r>
            <a:r>
              <a:rPr b="1">
                <a:latin typeface="Courier"/>
              </a:rPr>
              <a:t>/on</a:t>
            </a:r>
            <a:r>
              <a:rPr b="1"/>
              <a:t> ทำงาน เราตัดสาเหตุใดออกได้บ้าง?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Station C —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ตรวจทีละจุด:</a:t>
            </a:r>
          </a:p>
          <a:p>
            <a:pPr lvl="0" indent="-342900" marL="342900">
              <a:buAutoNum type="arabicPeriod"/>
            </a:pPr>
            <a:r>
              <a:rPr/>
              <a:t>Webcam</a:t>
            </a:r>
          </a:p>
          <a:p>
            <a:pPr lvl="0" indent="-342900" marL="342900">
              <a:buAutoNum type="arabicPeriod"/>
            </a:pPr>
            <a:r>
              <a:rPr/>
              <a:t>Prediction</a:t>
            </a:r>
          </a:p>
          <a:p>
            <a:pPr lvl="0" indent="-342900" marL="342900">
              <a:buAutoNum type="arabicPeriod"/>
            </a:pPr>
            <a:r>
              <a:rPr/>
              <a:t>JavaScript condition</a:t>
            </a:r>
          </a:p>
          <a:p>
            <a:pPr lvl="0" indent="-342900" marL="342900">
              <a:buAutoNum type="arabicPeriod"/>
            </a:pPr>
            <a:r>
              <a:rPr/>
              <a:t>HTTP request / </a:t>
            </a:r>
            <a:r>
              <a:rPr>
                <a:latin typeface="Courier"/>
              </a:rPr>
              <a:t>fetch</a:t>
            </a:r>
          </a:p>
          <a:p>
            <a:pPr lvl="0" indent="-342900" marL="342900">
              <a:buAutoNum type="arabicPeriod"/>
            </a:pPr>
            <a:r>
              <a:rPr/>
              <a:t>ESP32 route</a:t>
            </a:r>
          </a:p>
          <a:p>
            <a:pPr lvl="0" indent="-342900" marL="342900">
              <a:buAutoNum type="arabicPeriod"/>
            </a:pPr>
            <a:r>
              <a:rPr/>
              <a:t>GPIO / Output</a:t>
            </a:r>
          </a:p>
          <a:p>
            <a:pPr lvl="0" indent="0" marL="1270000">
              <a:buNone/>
            </a:pPr>
            <a:r>
              <a:rPr sz="2000"/>
              <a:t>Debugging = ลดพื้นที่ของปัญหาด้วยหลักฐาน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Explore Check-in • Mentimeter • 4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เครื่อง / กลุ่ม</a:t>
            </a:r>
            <a:br/>
            <a:r>
              <a:rPr/>
              <a:t>Recorder &amp; Presenter ส่งคำตอบหลังกลุ่มหารือ</a:t>
            </a:r>
          </a:p>
          <a:p>
            <a:pPr lvl="0" indent="0" marL="0">
              <a:buNone/>
            </a:pPr>
            <a:r>
              <a:rPr/>
              <a:t>เข้า: </a:t>
            </a:r>
            <a:r>
              <a:rPr b="1"/>
              <a:t>menti.com</a:t>
            </a:r>
            <a:br/>
            <a:r>
              <a:rPr/>
              <a:t>รหัส: </a:t>
            </a:r>
            <a:r>
              <a:rPr b="1"/>
              <a:t>กรอกรหัสจริงที่ครูแสดงบนจอ</a:t>
            </a:r>
          </a:p>
          <a:p>
            <a:pPr lvl="0" indent="0" marL="1270000">
              <a:buNone/>
            </a:pPr>
            <a:r>
              <a:rPr sz="2000"/>
              <a:t>Mentimeter ใช้เป็น Formative Assessment ไม่คิดคะแนนแยก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Mentimeter Q1 • Open-ended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จากการสำรวจ 3 Stations</a:t>
            </a:r>
            <a:br/>
            <a:r>
              <a:rPr/>
              <a:t>กลุ่มของคุณพบ “จุดเสี่ยง / ปัญหา / ข้อค้นพบ” ที่สำคัญที่สุดคืออะไร</a:t>
            </a:r>
          </a:p>
          <a:p>
            <a:pPr lvl="0" indent="0" marL="0">
              <a:buNone/>
            </a:pPr>
            <a:r>
              <a:rPr b="1"/>
              <a:t>และมีหลักฐานอะไรสนับสนุน?</a:t>
            </a:r>
          </a:p>
          <a:p>
            <a:pPr lvl="0" indent="0" marL="0">
              <a:buNone/>
            </a:pPr>
            <a:r>
              <a:rPr/>
              <a:t>รูปแบบ:</a:t>
            </a:r>
          </a:p>
          <a:p>
            <a:pPr lvl="0" indent="0" marL="1270000">
              <a:buNone/>
            </a:pPr>
            <a:r>
              <a:rPr sz="2000"/>
              <a:t>กลุ่ม X: พบว่า...</a:t>
            </a:r>
            <a:br/>
            <a:r>
              <a:rPr sz="2000"/>
              <a:t>หลักฐานคือ...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Mentimeter Q2 • Multiple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ถ้า </a:t>
            </a:r>
            <a:r>
              <a:rPr b="1"/>
              <a:t>AI ตรวจพบ Hand ถูกต้อง</a:t>
            </a:r>
            <a:r>
              <a:rPr/>
              <a:t> แต่ </a:t>
            </a:r>
            <a:r>
              <a:rPr b="1"/>
              <a:t>LED ไม่ติด</a:t>
            </a:r>
            <a:r>
              <a:rPr/>
              <a:t> ควรตรวจส่วนใดก่อน?</a:t>
            </a:r>
          </a:p>
          <a:p>
            <a:pPr lvl="0" indent="0" marL="0">
              <a:buNone/>
            </a:pPr>
            <a:r>
              <a:rPr/>
              <a:t>A. ข้อมูลฝึก Teachable Machine</a:t>
            </a:r>
            <a:br/>
            <a:r>
              <a:rPr/>
              <a:t>B. HTTP Route </a:t>
            </a:r>
            <a:r>
              <a:rPr>
                <a:latin typeface="Courier"/>
              </a:rPr>
              <a:t>/on</a:t>
            </a:r>
            <a:r>
              <a:rPr/>
              <a:t> </a:t>
            </a:r>
            <a:r>
              <a:rPr>
                <a:latin typeface="Courier"/>
              </a:rPr>
              <a:t>/off</a:t>
            </a:r>
            <a:r>
              <a:rPr/>
              <a:t>, </a:t>
            </a:r>
            <a:r>
              <a:rPr>
                <a:latin typeface="Courier"/>
              </a:rPr>
              <a:t>fetch</a:t>
            </a:r>
            <a:r>
              <a:rPr/>
              <a:t>, ESP32 Web Server</a:t>
            </a:r>
            <a:br/>
            <a:r>
              <a:rPr/>
              <a:t>C. สีของ LED</a:t>
            </a:r>
            <a:br/>
            <a:r>
              <a:rPr/>
              <a:t>D. เปลี่ยนสายไฟทั้งหมดทันที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จาก Explore → Explain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ครูเลือกคำตอบจริง 2–3 ตัวอย่างจาก Mentimeter</a:t>
            </a:r>
          </a:p>
          <a:p>
            <a:pPr lvl="0" indent="0" marL="0">
              <a:buNone/>
            </a:pPr>
            <a:r>
              <a:rPr/>
              <a:t>ถามต่อ:</a:t>
            </a:r>
          </a:p>
          <a:p>
            <a:pPr lvl="0" indent="0" marL="1270000">
              <a:buNone/>
            </a:pPr>
            <a:r>
              <a:rPr sz="2000"/>
              <a:t>“หลักฐานนี้ตัดสาเหตุใดออกได้บ้าง?”</a:t>
            </a:r>
          </a:p>
          <a:p>
            <a:pPr lvl="0" indent="0" marL="1270000">
              <a:buNone/>
            </a:pPr>
            <a:r>
              <a:rPr sz="2000"/>
              <a:t>“ถ้า AI ตรวจ Hand ถูกแล้ว เราควรย้อนกลับไป Train AI ก่อนหรือไม่?”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• 8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สรุปจากหลักฐานของผู้เรียน</a:t>
            </a:r>
          </a:p>
          <a:p>
            <a:pPr lvl="0"/>
            <a:r>
              <a:rPr/>
              <a:t>AI Model ประมวลผลใน </a:t>
            </a:r>
            <a:r>
              <a:rPr b="1"/>
              <a:t>Web Browser</a:t>
            </a:r>
          </a:p>
          <a:p>
            <a:pPr lvl="0"/>
            <a:r>
              <a:rPr/>
              <a:t>ESP32 ทำหน้าที่ </a:t>
            </a:r>
            <a:r>
              <a:rPr b="1"/>
              <a:t>Web Server + Physical Control</a:t>
            </a:r>
          </a:p>
          <a:p>
            <a:pPr lvl="0"/>
            <a:r>
              <a:rPr/>
              <a:t>HTTP เชื่อม Software → Hardware</a:t>
            </a:r>
          </a:p>
          <a:p>
            <a:pPr lvl="0"/>
            <a:r>
              <a:rPr/>
              <a:t>Debugging ต้องมี </a:t>
            </a:r>
            <a:r>
              <a:rPr b="1"/>
              <a:t>สมมติฐาน + หลักฐาน + การทดสอบ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 Debugging • 14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สุ่ม 1 Challenge:</a:t>
            </a:r>
          </a:p>
          <a:p>
            <a:pPr lvl="0"/>
            <a:r>
              <a:rPr/>
              <a:t>AI พบ Hand แต่ LED ไม่ติด</a:t>
            </a:r>
          </a:p>
          <a:p>
            <a:pPr lvl="0"/>
            <a:r>
              <a:rPr/>
              <a:t>Webcam เปิดไม่ได้</a:t>
            </a:r>
          </a:p>
          <a:p>
            <a:pPr lvl="0"/>
            <a:r>
              <a:rPr/>
              <a:t>Prediction สลับ Hand / No Hand</a:t>
            </a:r>
          </a:p>
          <a:p>
            <a:pPr lvl="0"/>
            <a:r>
              <a:rPr>
                <a:latin typeface="Courier"/>
              </a:rPr>
              <a:t>/on</a:t>
            </a:r>
            <a:r>
              <a:rPr/>
              <a:t> ทำงาน แต่ AI สั่งไม่ได้</a:t>
            </a:r>
          </a:p>
          <a:p>
            <a:pPr lvl="0" indent="0" marL="0">
              <a:buNone/>
            </a:pPr>
            <a:r>
              <a:rPr b="1"/>
              <a:t>ห้ามแก้แบบสุ่ม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→ Feedback →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/>
              <a:t>อาการ → สมมติฐาน → หลักฐาน → Test Plan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FEEDBACK</a:t>
            </a:r>
          </a:p>
          <a:p>
            <a:pPr lvl="0" indent="0" marL="0">
              <a:buNone/>
            </a:pPr>
            <a:r>
              <a:rPr/>
              <a:t>ครู/เพื่อนถามเพื่อชี้ทาง ไม่เฉลยทันที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</a:t>
            </a:r>
          </a:p>
          <a:p>
            <a:pPr lvl="0" indent="0" marL="0">
              <a:buNone/>
            </a:pPr>
            <a:r>
              <a:rPr/>
              <a:t>ปรับสมมติฐาน → ทดสอบ → ตีความ → วิธีแก้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จาก Prototype สู่ชีวิตจริง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 Design Card:</a:t>
            </a:r>
          </a:p>
          <a:p>
            <a:pPr lvl="0" indent="-342900" marL="342900">
              <a:buAutoNum type="arabicPeriod"/>
            </a:pPr>
            <a:r>
              <a:rPr/>
              <a:t>ปัญหาที่ต้องการแก้</a:t>
            </a:r>
          </a:p>
          <a:p>
            <a:pPr lvl="0" indent="-342900" marL="342900">
              <a:buAutoNum type="arabicPeriod"/>
            </a:pPr>
            <a:r>
              <a:rPr/>
              <a:t>ผู้ใช้งาน</a:t>
            </a:r>
          </a:p>
          <a:p>
            <a:pPr lvl="0" indent="-342900" marL="342900">
              <a:buAutoNum type="arabicPeriod"/>
            </a:pPr>
            <a:r>
              <a:rPr/>
              <a:t>Input</a:t>
            </a:r>
          </a:p>
          <a:p>
            <a:pPr lvl="0" indent="-342900" marL="342900">
              <a:buAutoNum type="arabicPeriod"/>
            </a:pPr>
            <a:r>
              <a:rPr/>
              <a:t>Process</a:t>
            </a:r>
          </a:p>
          <a:p>
            <a:pPr lvl="0" indent="-342900" marL="342900">
              <a:buAutoNum type="arabicPeriod"/>
            </a:pPr>
            <a:r>
              <a:rPr/>
              <a:t>Output</a:t>
            </a:r>
          </a:p>
          <a:p>
            <a:pPr lvl="0" indent="-342900" marL="342900">
              <a:buAutoNum type="arabicPeriod"/>
            </a:pPr>
            <a:r>
              <a:rPr/>
              <a:t>สิ่งที่ต้องปรับจาก Hand → LED</a:t>
            </a:r>
          </a:p>
          <a:p>
            <a:pPr lvl="0" indent="-342900" marL="342900">
              <a:buAutoNum type="arabicPeriod"/>
            </a:pPr>
            <a:r>
              <a:rPr/>
              <a:t>ความเสี่ยง</a:t>
            </a:r>
          </a:p>
          <a:p>
            <a:pPr lvl="0" indent="-342900" marL="342900">
              <a:buAutoNum type="arabicPeriod"/>
            </a:pPr>
            <a:r>
              <a:rPr/>
              <a:t>วิธีทดสอบ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Evaluate • 8 นาที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สุ่มถามสมาชิกในกลุ่ม</a:t>
            </a:r>
          </a:p>
          <a:p>
            <a:pPr lvl="0"/>
            <a:r>
              <a:rPr/>
              <a:t>ตรวจ System Flow / Challenge / Application</a:t>
            </a:r>
          </a:p>
          <a:p>
            <a:pPr lvl="0"/>
            <a:r>
              <a:rPr/>
              <a:t>Post-test 10 ข้อ</a:t>
            </a:r>
          </a:p>
          <a:p>
            <a:pPr lvl="0"/>
            <a:r>
              <a:rPr/>
              <a:t>เกณฑ์ผ่าน 7/10</a:t>
            </a:r>
          </a:p>
          <a:p>
            <a:pPr lvl="0"/>
            <a:r>
              <a:rPr/>
              <a:t>ผลส่งเข้า Teacher Dashboard อัตโนมัติ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การประเมิน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Pre-test 10 ข้อ</a:t>
            </a:r>
            <a:br/>
            <a:r>
              <a:rPr/>
              <a:t>Diagnostic — ไม่คิดคะแนน</a:t>
            </a:r>
          </a:p>
          <a:p>
            <a:pPr lvl="0" indent="0" marL="0">
              <a:buNone/>
            </a:pPr>
            <a:r>
              <a:rPr b="1"/>
              <a:t>Performance 90 คะแนน</a:t>
            </a:r>
            <a:br/>
            <a:r>
              <a:rPr/>
              <a:t>Stations • Flow • Debugging • Application • Collaboration</a:t>
            </a:r>
          </a:p>
          <a:p>
            <a:pPr lvl="0" indent="0" marL="0">
              <a:buNone/>
            </a:pPr>
            <a:r>
              <a:rPr b="1"/>
              <a:t>Post-test 10 คะแนน</a:t>
            </a:r>
            <a:br/>
            <a:r>
              <a:rPr/>
              <a:t>รวม 100 คะแนน</a:t>
            </a:r>
          </a:p>
          <a:p>
            <a:pPr lvl="0" indent="0" marL="0">
              <a:buNone/>
            </a:pPr>
            <a:r>
              <a:rPr/>
              <a:t>Mentimeter = </a:t>
            </a:r>
            <a:r>
              <a:rPr b="1"/>
              <a:t>Formative Evidence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หลักฐาน วPA ที่ควรเห็น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Pre-test</a:t>
            </a:r>
            <a:br/>
            <a:r>
              <a:rPr/>
              <a:t>→ Stations</a:t>
            </a:r>
            <a:br/>
            <a:r>
              <a:rPr/>
              <a:t>→ Mentimeter Q1/Q2</a:t>
            </a:r>
            <a:br/>
            <a:r>
              <a:rPr/>
              <a:t>→ Explain จากคำตอบผู้เรียน</a:t>
            </a:r>
            <a:br/>
            <a:r>
              <a:rPr/>
              <a:t>→ Challenge Before</a:t>
            </a:r>
            <a:br/>
            <a:r>
              <a:rPr/>
              <a:t>→ Feedback</a:t>
            </a:r>
            <a:br/>
            <a:r>
              <a:rPr/>
              <a:t>→ After</a:t>
            </a:r>
            <a:br/>
            <a:r>
              <a:rPr/>
              <a:t>→ Application</a:t>
            </a:r>
            <a:br/>
            <a:r>
              <a:rPr/>
              <a:t>→ Post-test / Dashboard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Exit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วันนี้หลักฐานอะไรทำให้เราเปลี่ยนความคิด?</a:t>
            </a:r>
          </a:p>
          <a:p>
            <a:pPr lvl="0" indent="0" marL="0">
              <a:buNone/>
            </a:pPr>
            <a:r>
              <a:rPr b="1"/>
              <a:t>ถ้าพัฒนาต้นแบบต่อ เราจะนำระบบนี้ไปแก้ปัญหาอะไร?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ถ้า Mentimeter / Internet ขัดข้อง:</a:t>
            </a:r>
          </a:p>
          <a:p>
            <a:pPr lvl="0"/>
            <a:r>
              <a:rPr/>
              <a:t>Q1 → Sticky Note / กระดาษ A5</a:t>
            </a:r>
          </a:p>
          <a:p>
            <a:pPr lvl="0"/>
            <a:r>
              <a:rPr/>
              <a:t>Q2 → ป้าย A / B / C / D</a:t>
            </a:r>
          </a:p>
          <a:p>
            <a:pPr lvl="0" indent="0" marL="0">
              <a:buNone/>
            </a:pPr>
            <a:r>
              <a:rPr b="1"/>
              <a:t>หลักการเดิม:</a:t>
            </a:r>
            <a:br/>
            <a:r>
              <a:rPr/>
              <a:t>รวบรวมความคิดท้าย Explore → ใช้คำตอบผู้เรียนเข้าสู่ Explain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 ESP32 Prototype</dc:title>
  <dc:creator>นายศิวัสว์ โตนอก</dc:creator>
  <cp:keywords/>
  <dcterms:created xsi:type="dcterms:W3CDTF">2026-08-25T00:34:43Z</dcterms:created>
  <dcterms:modified xsi:type="dcterms:W3CDTF">2026-08-25T00:34:43Z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subtitle">
    <vt:lpwstr>หน่วยที่ 3 การพัฒนาโครงงาน • ว31101 • 5E + Collaborative Learning</vt:lpwstr>
  </property>
</Properties>
</file>